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5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0"/>
      </p:cViewPr>
      <p:guideLst>
        <p:guide orient="horz" pos="302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AC74276-9FCF-41E1-8C11-5C1412A8DE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94FE8407-CD1D-42CD-9FF4-C25ADAFB6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170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74276-9FCF-41E1-8C11-5C1412A8DE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8407-CD1D-42CD-9FF4-C25ADAFB6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59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74276-9FCF-41E1-8C11-5C1412A8DE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8407-CD1D-42CD-9FF4-C25ADAFB6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221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74276-9FCF-41E1-8C11-5C1412A8DE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8407-CD1D-42CD-9FF4-C25ADAFB6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873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74276-9FCF-41E1-8C11-5C1412A8DE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8407-CD1D-42CD-9FF4-C25ADAFB6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475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74276-9FCF-41E1-8C11-5C1412A8DE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8407-CD1D-42CD-9FF4-C25ADAFB6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918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74276-9FCF-41E1-8C11-5C1412A8DE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8407-CD1D-42CD-9FF4-C25ADAFB6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6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74276-9FCF-41E1-8C11-5C1412A8DE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8407-CD1D-42CD-9FF4-C25ADAFB6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120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74276-9FCF-41E1-8C11-5C1412A8DE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8407-CD1D-42CD-9FF4-C25ADAFB6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74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74276-9FCF-41E1-8C11-5C1412A8DE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8407-CD1D-42CD-9FF4-C25ADAFB6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967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74276-9FCF-41E1-8C11-5C1412A8DE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8407-CD1D-42CD-9FF4-C25ADAFB6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60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74276-9FCF-41E1-8C11-5C1412A8DE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8407-CD1D-42CD-9FF4-C25ADAFB6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651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74276-9FCF-41E1-8C11-5C1412A8DE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8407-CD1D-42CD-9FF4-C25ADAFB6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138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74276-9FCF-41E1-8C11-5C1412A8DE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8407-CD1D-42CD-9FF4-C25ADAFB6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46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74276-9FCF-41E1-8C11-5C1412A8DE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8407-CD1D-42CD-9FF4-C25ADAFB6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9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0AC74276-9FCF-41E1-8C11-5C1412A8DE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8407-CD1D-42CD-9FF4-C25ADAFB6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513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AC74276-9FCF-41E1-8C11-5C1412A8DE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8407-CD1D-42CD-9FF4-C25ADAFB6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553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1.jpe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AC74276-9FCF-41E1-8C11-5C1412A8DEE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94FE8407-CD1D-42CD-9FF4-C25ADAFB6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757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6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CCF37-808D-D92F-56F0-79B28C0DB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693" y="669396"/>
            <a:ext cx="10136614" cy="1270556"/>
          </a:xfrm>
        </p:spPr>
        <p:txBody>
          <a:bodyPr>
            <a:normAutofit fontScale="90000"/>
          </a:bodyPr>
          <a:lstStyle/>
          <a:p>
            <a:r>
              <a:rPr lang="en-US" dirty="0"/>
              <a:t>	DEVELOPMENT OF A MACHINE LEARNING BASED SYSTEM FOR ORE GRADE AND MINERAL DISTRIBUTION PREDICTION IN DU, BUKURU, JOS SOUTH LGA, PLATEAU STATE, NIGERIA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2AD7E-626A-4771-0DBF-BD0D63B9E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1322" y="271020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ARUM ALPHA AJIJI</a:t>
            </a:r>
          </a:p>
          <a:p>
            <a:pPr marL="0" indent="0">
              <a:buNone/>
            </a:pPr>
            <a:r>
              <a:rPr lang="en-US" dirty="0"/>
              <a:t>UJ/2018/EN/0456</a:t>
            </a:r>
          </a:p>
          <a:p>
            <a:pPr marL="0" indent="0">
              <a:buNone/>
            </a:pPr>
            <a:r>
              <a:rPr lang="en-US" dirty="0"/>
              <a:t>DEPARTMENT OF MINING ENGINEERING, UNIVERSITY OF JOS</a:t>
            </a:r>
          </a:p>
          <a:p>
            <a:pPr marL="0" indent="0">
              <a:buNone/>
            </a:pPr>
            <a:r>
              <a:rPr lang="en-US" dirty="0"/>
              <a:t>SUPERVISED BY: MR. JOSHUA D. JORO</a:t>
            </a:r>
          </a:p>
          <a:p>
            <a:pPr marL="0" indent="0">
              <a:buNone/>
            </a:pPr>
            <a:r>
              <a:rPr lang="en-US" dirty="0"/>
              <a:t>MARCH 2026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60408-5B29-5A84-16CC-5DD882A6421B}"/>
              </a:ext>
            </a:extLst>
          </p:cNvPr>
          <p:cNvSpPr txBox="1"/>
          <p:nvPr/>
        </p:nvSpPr>
        <p:spPr>
          <a:xfrm>
            <a:off x="5327451" y="2112764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0A9103-3A22-1ECE-C2B6-01DF4C72DBD5}"/>
              </a:ext>
            </a:extLst>
          </p:cNvPr>
          <p:cNvSpPr txBox="1"/>
          <p:nvPr/>
        </p:nvSpPr>
        <p:spPr>
          <a:xfrm>
            <a:off x="5327451" y="260389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433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202DD-7EC6-90A3-5AD2-ADF151920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84B6B-A42C-3A32-961E-D5291B1D3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Background and problem statement</a:t>
            </a:r>
          </a:p>
          <a:p>
            <a:r>
              <a:rPr lang="en-US" dirty="0"/>
              <a:t>Aim and objectives </a:t>
            </a:r>
          </a:p>
          <a:p>
            <a:r>
              <a:rPr lang="en-US" dirty="0"/>
              <a:t>Significance of the study</a:t>
            </a:r>
          </a:p>
          <a:p>
            <a:r>
              <a:rPr lang="en-US" dirty="0"/>
              <a:t>Literature review &amp; research gap</a:t>
            </a:r>
          </a:p>
          <a:p>
            <a:r>
              <a:rPr lang="en-US" dirty="0"/>
              <a:t>Study area</a:t>
            </a:r>
          </a:p>
          <a:p>
            <a:r>
              <a:rPr lang="en-US" dirty="0"/>
              <a:t>Methodology and Data</a:t>
            </a:r>
          </a:p>
          <a:p>
            <a:r>
              <a:rPr lang="en-US" dirty="0"/>
              <a:t>Machine learning models</a:t>
            </a:r>
          </a:p>
          <a:p>
            <a:r>
              <a:rPr lang="en-US" dirty="0"/>
              <a:t>Expected outcomes</a:t>
            </a:r>
          </a:p>
          <a:p>
            <a:r>
              <a:rPr lang="en-US" dirty="0"/>
              <a:t>Project timeline and budget</a:t>
            </a:r>
          </a:p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745915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DE9A8-AB55-ECFB-D91D-3EAFF669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of the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BCA33-6E87-382E-2487-B8FD4FF1A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Bukuru lies in the younger granite province of </a:t>
            </a:r>
            <a:r>
              <a:rPr lang="en-US" dirty="0" err="1"/>
              <a:t>jos</a:t>
            </a:r>
            <a:r>
              <a:rPr lang="en-US" dirty="0"/>
              <a:t> plateau</a:t>
            </a:r>
          </a:p>
          <a:p>
            <a:r>
              <a:rPr lang="en-US" dirty="0"/>
              <a:t>Historically rich in cassiterite(tin) mineralization</a:t>
            </a:r>
          </a:p>
          <a:p>
            <a:r>
              <a:rPr lang="en-US" dirty="0"/>
              <a:t>Traditionally mining has contributed significantly to Nigeria's solid minerals</a:t>
            </a:r>
          </a:p>
          <a:p>
            <a:r>
              <a:rPr lang="en-US" dirty="0"/>
              <a:t>Declining ore grades and rising exploration costs demand smarter prediction tools</a:t>
            </a:r>
          </a:p>
          <a:p>
            <a:r>
              <a:rPr lang="en-US" dirty="0"/>
              <a:t>Traditional </a:t>
            </a:r>
            <a:r>
              <a:rPr lang="en-US" dirty="0" err="1"/>
              <a:t>geostatistics</a:t>
            </a:r>
            <a:r>
              <a:rPr lang="en-US" dirty="0"/>
              <a:t> (ordinary kriging, IDW) have limitations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649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2.png">
            <a:extLst>
              <a:ext uri="{FF2B5EF4-FFF2-40B4-BE49-F238E27FC236}">
                <a16:creationId xmlns:a16="http://schemas.microsoft.com/office/drawing/2014/main" id="{C51F4B88-5DF2-EF10-D18A-5F861A5450F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769268" y="2414934"/>
            <a:ext cx="5532783" cy="3797299"/>
          </a:xfrm>
          <a:prstGeom prst="rect">
            <a:avLst/>
          </a:prstGeom>
          <a:ln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AA0E9DA-9074-66EA-86B2-BB1A0FDD6522}"/>
              </a:ext>
            </a:extLst>
          </p:cNvPr>
          <p:cNvSpPr/>
          <p:nvPr/>
        </p:nvSpPr>
        <p:spPr>
          <a:xfrm>
            <a:off x="5257800" y="3279913"/>
            <a:ext cx="957470" cy="84482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CC4E9F0-3D94-D093-AB69-84DB9BCB8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of the study area</a:t>
            </a:r>
          </a:p>
        </p:txBody>
      </p:sp>
    </p:spTree>
    <p:extLst>
      <p:ext uri="{BB962C8B-B14F-4D97-AF65-F5344CB8AC3E}">
        <p14:creationId xmlns:p14="http://schemas.microsoft.com/office/powerpoint/2010/main" val="1684199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82E61-0DB5-537F-69DD-8258E3789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 OF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31BD7-BEDE-C09C-8CF4-E943C1557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High uncertainty in ore grade estimation due to complex geology</a:t>
            </a:r>
          </a:p>
          <a:p>
            <a:r>
              <a:rPr lang="en-US" dirty="0"/>
              <a:t>Traditional methods assume linearity and stationarity</a:t>
            </a:r>
          </a:p>
          <a:p>
            <a:r>
              <a:rPr lang="en-US" dirty="0"/>
              <a:t>Consequences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        Inefficient mine planning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        poor reserve classification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        increased drilling costs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        Financial losses &amp; environmental impact</a:t>
            </a:r>
          </a:p>
          <a:p>
            <a:r>
              <a:rPr lang="en-US" dirty="0"/>
              <a:t>Fragmented multi source data (geochemical, geophysical and spatial data)</a:t>
            </a:r>
          </a:p>
          <a:p>
            <a:r>
              <a:rPr lang="en-US" dirty="0"/>
              <a:t>Lack of localized ML system for Jos plateau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66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D8344-5801-9613-4D32-8215696D9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7AFCF-D900-4881-AD42-03D472FC7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AIM:</a:t>
            </a:r>
          </a:p>
          <a:p>
            <a:pPr marL="0" indent="0">
              <a:buNone/>
            </a:pPr>
            <a:r>
              <a:rPr lang="en-US" dirty="0"/>
              <a:t>To design and implement a machine learning based predictive system for accurate ore grade estimation and mineral distribution modelling in Bukuru, Jos, Nigeria </a:t>
            </a:r>
          </a:p>
          <a:p>
            <a:r>
              <a:rPr lang="en-US" dirty="0"/>
              <a:t>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Compile and preprocess multi source datasets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 and train supervised ML models(Random forest and </a:t>
            </a:r>
            <a:r>
              <a:rPr lang="en-US" dirty="0" err="1"/>
              <a:t>XGBoost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 performance with traditional geostatistical methods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 a visualization 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 technical recommendations for exploration efficiency</a:t>
            </a:r>
          </a:p>
        </p:txBody>
      </p:sp>
    </p:spTree>
    <p:extLst>
      <p:ext uri="{BB962C8B-B14F-4D97-AF65-F5344CB8AC3E}">
        <p14:creationId xmlns:p14="http://schemas.microsoft.com/office/powerpoint/2010/main" val="1382335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84771-659B-DCB2-262D-14062BA9C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Significance of the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DC239-21F8-3AC8-F0C6-80675AEDC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localized ML system for Bukuru/</a:t>
            </a:r>
            <a:r>
              <a:rPr lang="en-US" dirty="0" err="1"/>
              <a:t>jos</a:t>
            </a:r>
            <a:r>
              <a:rPr lang="en-US" dirty="0"/>
              <a:t> plateau</a:t>
            </a:r>
          </a:p>
          <a:p>
            <a:r>
              <a:rPr lang="en-US" dirty="0"/>
              <a:t>Benefits: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Mining engineers &amp; exploration companies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Policymakers &amp; sustainable mining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Reduced financial &amp; environmental risk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Technology advancement in Nigerian mining sector</a:t>
            </a:r>
          </a:p>
        </p:txBody>
      </p:sp>
    </p:spTree>
    <p:extLst>
      <p:ext uri="{BB962C8B-B14F-4D97-AF65-F5344CB8AC3E}">
        <p14:creationId xmlns:p14="http://schemas.microsoft.com/office/powerpoint/2010/main" val="108179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482EE-AFA4-EB59-06FD-965923001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 – KEY INSIGHTS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03035-FD20-1CAE-A3E7-3CFB3A84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3031434"/>
            <a:ext cx="8761413" cy="3127513"/>
          </a:xfrm>
        </p:spPr>
        <p:txBody>
          <a:bodyPr/>
          <a:lstStyle/>
          <a:p>
            <a:r>
              <a:rPr lang="en-US" dirty="0" err="1"/>
              <a:t>Geostatics</a:t>
            </a:r>
            <a:r>
              <a:rPr lang="en-US" dirty="0"/>
              <a:t> (Kriging)- assumes stationarity (</a:t>
            </a:r>
            <a:r>
              <a:rPr lang="en-US" dirty="0" err="1"/>
              <a:t>Goovaerts</a:t>
            </a:r>
            <a:r>
              <a:rPr lang="en-US" dirty="0"/>
              <a:t>, 1997)</a:t>
            </a:r>
          </a:p>
          <a:p>
            <a:r>
              <a:rPr lang="en-US" dirty="0"/>
              <a:t>Machine learning outperforms in complex terrains</a:t>
            </a:r>
          </a:p>
          <a:p>
            <a:r>
              <a:rPr lang="en-US" dirty="0"/>
              <a:t>Random forest and </a:t>
            </a:r>
            <a:r>
              <a:rPr lang="en-US" dirty="0" err="1"/>
              <a:t>XGBoost</a:t>
            </a:r>
            <a:r>
              <a:rPr lang="en-US" dirty="0"/>
              <a:t> successfully used in mineral prospectivity (Rodriguez Galiano et al., 2015)</a:t>
            </a:r>
          </a:p>
          <a:p>
            <a:r>
              <a:rPr lang="en-US" dirty="0"/>
              <a:t>Ensemble methods handle nonlinear relationships better</a:t>
            </a:r>
          </a:p>
        </p:txBody>
      </p:sp>
    </p:spTree>
    <p:extLst>
      <p:ext uri="{BB962C8B-B14F-4D97-AF65-F5344CB8AC3E}">
        <p14:creationId xmlns:p14="http://schemas.microsoft.com/office/powerpoint/2010/main" val="2692519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E8B1E-0516-3CED-86C3-85E2C1EC5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23133-E79C-2D41-C1C0-999E3A091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Very few studies focus specifically on Jos plateau/Bukuru</a:t>
            </a:r>
          </a:p>
          <a:p>
            <a:r>
              <a:rPr lang="en-US" dirty="0"/>
              <a:t>Most research uses single source data</a:t>
            </a:r>
          </a:p>
          <a:p>
            <a:r>
              <a:rPr lang="en-US" dirty="0"/>
              <a:t>No integrated multi source ML dashboard for tin mineralization in the region </a:t>
            </a:r>
          </a:p>
          <a:p>
            <a:r>
              <a:rPr lang="en-US" dirty="0"/>
              <a:t>Opportunity: localized, data driven system tailored to younger Granite geology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328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5AFA7-90EE-F0D2-5CF0-1675BFF90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 AREA – BUKURU, JOS SOUTH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90FC1-7D5F-2585-24AB-449A44389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LOCATION: Jos south LGA, plateau state</a:t>
            </a:r>
          </a:p>
          <a:p>
            <a:r>
              <a:rPr lang="en-US" dirty="0"/>
              <a:t>Geological setting: Younger granite ring complexes </a:t>
            </a:r>
          </a:p>
          <a:p>
            <a:r>
              <a:rPr lang="en-US" dirty="0"/>
              <a:t>Key features: cassiterite(SnO2), hydrothermal alteration, fractures</a:t>
            </a:r>
          </a:p>
          <a:p>
            <a:r>
              <a:rPr lang="en-US" dirty="0"/>
              <a:t>Historical tin mining area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973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79D42-0518-F9C6-EBFC-EF29EAEFD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1556C-03E8-BC2F-99FB-97208471C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Geochemical: SN, K, Fe, Cu, Pb, ZN……..</a:t>
            </a:r>
          </a:p>
          <a:p>
            <a:r>
              <a:rPr lang="en-US" dirty="0"/>
              <a:t>Geophysical: Total magnetic intensity, Radiometric (k, Th, U)</a:t>
            </a:r>
          </a:p>
          <a:p>
            <a:r>
              <a:rPr lang="en-US" dirty="0"/>
              <a:t>Spatial: Coordinates, DEM, slope , aspect, distance to faults</a:t>
            </a:r>
          </a:p>
        </p:txBody>
      </p:sp>
    </p:spTree>
    <p:extLst>
      <p:ext uri="{BB962C8B-B14F-4D97-AF65-F5344CB8AC3E}">
        <p14:creationId xmlns:p14="http://schemas.microsoft.com/office/powerpoint/2010/main" val="2922786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BC000-264D-1240-D019-9F1B4B37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AEBAC-0EA0-AF22-221B-783B092C6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acquisitions &amp; integration</a:t>
            </a:r>
          </a:p>
          <a:p>
            <a:r>
              <a:rPr lang="en-US" dirty="0"/>
              <a:t>Preprocessing &amp; EDA</a:t>
            </a:r>
          </a:p>
          <a:p>
            <a:r>
              <a:rPr lang="en-US" dirty="0"/>
              <a:t>Feature engineering</a:t>
            </a:r>
          </a:p>
          <a:p>
            <a:r>
              <a:rPr lang="en-US" dirty="0"/>
              <a:t>Model development (RF &amp; </a:t>
            </a:r>
            <a:r>
              <a:rPr lang="en-US" dirty="0" err="1"/>
              <a:t>XGBoost</a:t>
            </a:r>
            <a:r>
              <a:rPr lang="en-US" dirty="0"/>
              <a:t>)</a:t>
            </a:r>
          </a:p>
          <a:p>
            <a:r>
              <a:rPr lang="en-US" dirty="0"/>
              <a:t>Validation &amp; spatial prediction</a:t>
            </a:r>
          </a:p>
          <a:p>
            <a:r>
              <a:rPr lang="en-US" dirty="0"/>
              <a:t>Dashboard deployment</a:t>
            </a:r>
          </a:p>
        </p:txBody>
      </p:sp>
    </p:spTree>
    <p:extLst>
      <p:ext uri="{BB962C8B-B14F-4D97-AF65-F5344CB8AC3E}">
        <p14:creationId xmlns:p14="http://schemas.microsoft.com/office/powerpoint/2010/main" val="2948814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39A0B-6837-FA3C-CD67-145AD68EA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D4E98-35A7-C90B-782B-C3C0697FF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forest regressor; Robust, feature importance</a:t>
            </a:r>
          </a:p>
          <a:p>
            <a:r>
              <a:rPr lang="en-US" dirty="0" err="1"/>
              <a:t>XGBoost</a:t>
            </a:r>
            <a:r>
              <a:rPr lang="en-US" dirty="0"/>
              <a:t> Regressor; high accuracy and handles missing values</a:t>
            </a:r>
          </a:p>
          <a:p>
            <a:r>
              <a:rPr lang="en-US" dirty="0"/>
              <a:t>Baselines; Linear Regression</a:t>
            </a:r>
          </a:p>
          <a:p>
            <a:r>
              <a:rPr lang="en-US" dirty="0"/>
              <a:t>Evaluation; RMSE, MAE, R^2 (Coefficient of determination),MAPE</a:t>
            </a:r>
          </a:p>
          <a:p>
            <a:r>
              <a:rPr lang="en-US" dirty="0"/>
              <a:t>70/15/15 train-</a:t>
            </a:r>
            <a:r>
              <a:rPr lang="en-US" dirty="0" err="1"/>
              <a:t>val</a:t>
            </a:r>
            <a:r>
              <a:rPr lang="en-US" dirty="0"/>
              <a:t>-test split +k fold cross validation</a:t>
            </a:r>
          </a:p>
        </p:txBody>
      </p:sp>
    </p:spTree>
    <p:extLst>
      <p:ext uri="{BB962C8B-B14F-4D97-AF65-F5344CB8AC3E}">
        <p14:creationId xmlns:p14="http://schemas.microsoft.com/office/powerpoint/2010/main" val="3897586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9747C-C203-31B8-4FBC-8B408C3C2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outcomes &amp;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30176-C36D-225C-5E0B-473AF3CF7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Validated </a:t>
            </a:r>
            <a:r>
              <a:rPr lang="en-US" dirty="0" err="1"/>
              <a:t>Ml</a:t>
            </a:r>
            <a:r>
              <a:rPr lang="en-US" dirty="0"/>
              <a:t> ore grade prediction model</a:t>
            </a:r>
          </a:p>
          <a:p>
            <a:r>
              <a:rPr lang="en-US" dirty="0"/>
              <a:t>High resolution mineral distribution maps</a:t>
            </a:r>
          </a:p>
          <a:p>
            <a:r>
              <a:rPr lang="en-US" dirty="0"/>
              <a:t>Interactive web based dashboard (Next.js + react leaflet)</a:t>
            </a:r>
          </a:p>
          <a:p>
            <a:r>
              <a:rPr lang="en-US" dirty="0"/>
              <a:t>Technical recommendations for exploration</a:t>
            </a:r>
          </a:p>
          <a:p>
            <a:r>
              <a:rPr lang="en-US" dirty="0"/>
              <a:t>Full final year project report</a:t>
            </a:r>
          </a:p>
        </p:txBody>
      </p:sp>
    </p:spTree>
    <p:extLst>
      <p:ext uri="{BB962C8B-B14F-4D97-AF65-F5344CB8AC3E}">
        <p14:creationId xmlns:p14="http://schemas.microsoft.com/office/powerpoint/2010/main" val="3201582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18E0AC-6894-EB3D-BE49-3EE1BC7C77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77" y="0"/>
            <a:ext cx="11135846" cy="657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547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6F58-55F0-CA27-1612-42B046FEAEF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973138"/>
            <a:ext cx="8761413" cy="708025"/>
          </a:xfrm>
        </p:spPr>
        <p:txBody>
          <a:bodyPr/>
          <a:lstStyle/>
          <a:p>
            <a:r>
              <a:rPr lang="en-US" dirty="0"/>
              <a:t>PROJECT TIMELINE</a:t>
            </a:r>
          </a:p>
        </p:txBody>
      </p:sp>
      <p:graphicFrame>
        <p:nvGraphicFramePr>
          <p:cNvPr id="7" name="Google Shape;136;p11">
            <a:extLst>
              <a:ext uri="{FF2B5EF4-FFF2-40B4-BE49-F238E27FC236}">
                <a16:creationId xmlns:a16="http://schemas.microsoft.com/office/drawing/2014/main" id="{0EDD6CD9-53F9-D411-F8F3-8CEC0B6325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6382546"/>
              </p:ext>
            </p:extLst>
          </p:nvPr>
        </p:nvGraphicFramePr>
        <p:xfrm>
          <a:off x="1367758" y="1914238"/>
          <a:ext cx="8711383" cy="35012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4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1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257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S/N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Research activity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January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February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March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April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May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June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1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Topic selection and supervisor’s approval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2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Literature review and proposal development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>
                    <a:solidFill>
                      <a:srgbClr val="BD58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>
                    <a:solidFill>
                      <a:srgbClr val="BD58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>
                    <a:solidFill>
                      <a:srgbClr val="BD58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>
                    <a:solidFill>
                      <a:srgbClr val="BD58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>
                    <a:solidFill>
                      <a:srgbClr val="BD58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>
                    <a:solidFill>
                      <a:srgbClr val="BD58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3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DATA COLLECTION</a:t>
                      </a:r>
                      <a:endParaRPr sz="12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/>
                        <a:t> </a:t>
                      </a:r>
                      <a:endParaRPr sz="12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4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Date acquisition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5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MODEL TRAINING</a:t>
                      </a:r>
                      <a:endParaRPr sz="12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6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Field validation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7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Report writing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8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Review and submission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 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/>
                        <a:t> </a:t>
                      </a:r>
                      <a:endParaRPr sz="12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3550" marR="43550" marT="0" marB="0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Google Shape;137;p11">
            <a:extLst>
              <a:ext uri="{FF2B5EF4-FFF2-40B4-BE49-F238E27FC236}">
                <a16:creationId xmlns:a16="http://schemas.microsoft.com/office/drawing/2014/main" id="{B923B808-4B05-DA7D-3655-629365A670FA}"/>
              </a:ext>
            </a:extLst>
          </p:cNvPr>
          <p:cNvSpPr txBox="1">
            <a:spLocks/>
          </p:cNvSpPr>
          <p:nvPr/>
        </p:nvSpPr>
        <p:spPr bwMode="gray">
          <a:xfrm>
            <a:off x="1545800" y="502588"/>
            <a:ext cx="8355300" cy="9411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000"/>
            </a:pPr>
            <a:r>
              <a:rPr lang="en-US" dirty="0">
                <a:solidFill>
                  <a:schemeClr val="dk1"/>
                </a:solidFill>
              </a:rPr>
              <a:t>Project timeline </a:t>
            </a:r>
          </a:p>
        </p:txBody>
      </p:sp>
    </p:spTree>
    <p:extLst>
      <p:ext uri="{BB962C8B-B14F-4D97-AF65-F5344CB8AC3E}">
        <p14:creationId xmlns:p14="http://schemas.microsoft.com/office/powerpoint/2010/main" val="1068101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00598-412C-FC04-A44B-B41256B9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BUDGET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FB7CCFD-183B-0385-80DF-1CBCE77189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142611"/>
              </p:ext>
            </p:extLst>
          </p:nvPr>
        </p:nvGraphicFramePr>
        <p:xfrm>
          <a:off x="1154954" y="2603500"/>
          <a:ext cx="8825658" cy="336384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412829">
                  <a:extLst>
                    <a:ext uri="{9D8B030D-6E8A-4147-A177-3AD203B41FA5}">
                      <a16:colId xmlns:a16="http://schemas.microsoft.com/office/drawing/2014/main" val="544553005"/>
                    </a:ext>
                  </a:extLst>
                </a:gridCol>
                <a:gridCol w="4412829">
                  <a:extLst>
                    <a:ext uri="{9D8B030D-6E8A-4147-A177-3AD203B41FA5}">
                      <a16:colId xmlns:a16="http://schemas.microsoft.com/office/drawing/2014/main" val="2335583361"/>
                    </a:ext>
                  </a:extLst>
                </a:gridCol>
              </a:tblGrid>
              <a:tr h="612361">
                <a:tc>
                  <a:txBody>
                    <a:bodyPr/>
                    <a:lstStyle/>
                    <a:p>
                      <a:r>
                        <a:rPr lang="en-US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757281"/>
                  </a:ext>
                </a:extLst>
              </a:tr>
              <a:tr h="612361">
                <a:tc>
                  <a:txBody>
                    <a:bodyPr/>
                    <a:lstStyle/>
                    <a:p>
                      <a:r>
                        <a:rPr lang="en-US" dirty="0"/>
                        <a:t>DATA ACQUISITION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962506"/>
                  </a:ext>
                </a:extLst>
              </a:tr>
              <a:tr h="612361">
                <a:tc>
                  <a:txBody>
                    <a:bodyPr/>
                    <a:lstStyle/>
                    <a:p>
                      <a:r>
                        <a:rPr lang="en-US" dirty="0"/>
                        <a:t>SOFTWARE AND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55295"/>
                  </a:ext>
                </a:extLst>
              </a:tr>
              <a:tr h="612361">
                <a:tc>
                  <a:txBody>
                    <a:bodyPr/>
                    <a:lstStyle/>
                    <a:p>
                      <a:r>
                        <a:rPr lang="en-US" dirty="0"/>
                        <a:t>RESEARCH ASSISTANCE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257630"/>
                  </a:ext>
                </a:extLst>
              </a:tr>
              <a:tr h="612361">
                <a:tc>
                  <a:txBody>
                    <a:bodyPr/>
                    <a:lstStyle/>
                    <a:p>
                      <a:r>
                        <a:rPr lang="en-US" dirty="0"/>
                        <a:t>MISCELLANEOUS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100000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400000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934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969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E7911-04C9-6BC5-61D9-9515C5830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766D9-D889-4A95-8FB5-B7DE4A979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methods are limited in Bukuru's complex geology</a:t>
            </a:r>
          </a:p>
          <a:p>
            <a:r>
              <a:rPr lang="en-US" dirty="0"/>
              <a:t>Machine learning offers superior accuracy and risk reduction</a:t>
            </a:r>
          </a:p>
          <a:p>
            <a:r>
              <a:rPr lang="en-US" dirty="0"/>
              <a:t>This project will deliver </a:t>
            </a:r>
            <a:r>
              <a:rPr lang="en-US" dirty="0" err="1"/>
              <a:t>Nigerias</a:t>
            </a:r>
            <a:r>
              <a:rPr lang="en-US" dirty="0"/>
              <a:t> first localized ML ore prediction for tin</a:t>
            </a:r>
          </a:p>
          <a:p>
            <a:r>
              <a:rPr lang="en-US" dirty="0"/>
              <a:t>Ready for sustainable and data driven mining future</a:t>
            </a:r>
          </a:p>
        </p:txBody>
      </p:sp>
    </p:spTree>
    <p:extLst>
      <p:ext uri="{BB962C8B-B14F-4D97-AF65-F5344CB8AC3E}">
        <p14:creationId xmlns:p14="http://schemas.microsoft.com/office/powerpoint/2010/main" val="3951889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0880B-5AEF-4A9F-B08B-350E88B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9539" y="570309"/>
            <a:ext cx="8761413" cy="1608534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D5F88-AEC9-CDCE-1B30-7BA6BE51B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8558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223</TotalTime>
  <Words>722</Words>
  <Application>Microsoft Office PowerPoint</Application>
  <PresentationFormat>Widescreen</PresentationFormat>
  <Paragraphs>181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Ion Boardroom</vt:lpstr>
      <vt:lpstr> DEVELOPMENT OF A MACHINE LEARNING BASED SYSTEM FOR ORE GRADE AND MINERAL DISTRIBUTION PREDICTION IN DU, BUKURU, JOS SOUTH LGA, PLATEAU STATE, NIGERIA</vt:lpstr>
      <vt:lpstr>PRESENTATION OUTLINE</vt:lpstr>
      <vt:lpstr>Background of the study</vt:lpstr>
      <vt:lpstr>Map of the study area</vt:lpstr>
      <vt:lpstr>STATEMENT OF THE PROBLEM</vt:lpstr>
      <vt:lpstr>Aim and objectives</vt:lpstr>
      <vt:lpstr>Significance of the study</vt:lpstr>
      <vt:lpstr>LITERATURE REVIEW – KEY INSIGHTS </vt:lpstr>
      <vt:lpstr>RESEARCH GAP</vt:lpstr>
      <vt:lpstr>STUDY AREA – BUKURU, JOS SOUTH</vt:lpstr>
      <vt:lpstr>DATA REQUIREMENTS</vt:lpstr>
      <vt:lpstr>Methodology workflow</vt:lpstr>
      <vt:lpstr>Machine learning Models</vt:lpstr>
      <vt:lpstr>Expected outcomes &amp; deliverables</vt:lpstr>
      <vt:lpstr>PowerPoint Presentation</vt:lpstr>
      <vt:lpstr>PROJECT TIMELINE</vt:lpstr>
      <vt:lpstr>PRELIMINARY BUDGET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DEVELOPMENT OF A MACHINE LEARNING BASED SYSTEM FOR ORE GRADE AND MINERAL DISTRIBUTION PREDICTION IN DU, BUKURU, JOS SOUTH LGA, PLATEAU STATE, NIGERIA</dc:title>
  <dc:creator>Alpha Arum</dc:creator>
  <cp:lastModifiedBy>Alpha Arum</cp:lastModifiedBy>
  <cp:revision>4</cp:revision>
  <dcterms:created xsi:type="dcterms:W3CDTF">2026-03-05T06:18:19Z</dcterms:created>
  <dcterms:modified xsi:type="dcterms:W3CDTF">2026-03-05T12:02:05Z</dcterms:modified>
</cp:coreProperties>
</file>